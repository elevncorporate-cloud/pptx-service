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Barlow" charset="1" panose="00000500000000000000"/>
      <p:regular r:id="rId7"/>
    </p:embeddedFont>
    <p:embeddedFont>
      <p:font typeface="Barlow Bold" charset="1" panose="00000800000000000000"/>
      <p:regular r:id="rId8"/>
    </p:embeddedFont>
    <p:embeddedFont>
      <p:font typeface="Inter Bold" charset="1" panose="020B0802030000000004"/>
      <p:regular r:id="rId9"/>
    </p:embeddedFont>
    <p:embeddedFont>
      <p:font typeface="PT Sans" charset="1" panose="020B0503020203020204"/>
      <p:regular r:id="rId10"/>
    </p:embeddedFont>
    <p:embeddedFont>
      <p:font typeface="PT Sans Bold" charset="1" panose="020B0703020203020204"/>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7F6"/>
        </a:solidFill>
      </p:bgPr>
    </p:bg>
    <p:spTree>
      <p:nvGrpSpPr>
        <p:cNvPr id="1" name=""/>
        <p:cNvGrpSpPr/>
        <p:nvPr/>
      </p:nvGrpSpPr>
      <p:grpSpPr>
        <a:xfrm>
          <a:off x="0" y="0"/>
          <a:ext cx="0" cy="0"/>
          <a:chOff x="0" y="0"/>
          <a:chExt cx="0" cy="0"/>
        </a:xfrm>
      </p:grpSpPr>
      <p:grpSp>
        <p:nvGrpSpPr>
          <p:cNvPr name="Group 2" id="2"/>
          <p:cNvGrpSpPr/>
          <p:nvPr/>
        </p:nvGrpSpPr>
        <p:grpSpPr>
          <a:xfrm rot="0">
            <a:off x="-7979954" y="-180841"/>
            <a:ext cx="10641834" cy="10987141"/>
            <a:chOff x="0" y="0"/>
            <a:chExt cx="3813793" cy="3937543"/>
          </a:xfrm>
        </p:grpSpPr>
        <p:sp>
          <p:nvSpPr>
            <p:cNvPr name="Freeform 3" id="3"/>
            <p:cNvSpPr/>
            <p:nvPr/>
          </p:nvSpPr>
          <p:spPr>
            <a:xfrm flipH="false" flipV="false" rot="0">
              <a:off x="0" y="0"/>
              <a:ext cx="3813793" cy="3937543"/>
            </a:xfrm>
            <a:custGeom>
              <a:avLst/>
              <a:gdLst/>
              <a:ahLst/>
              <a:cxnLst/>
              <a:rect r="r" b="b" t="t" l="l"/>
              <a:pathLst>
                <a:path h="3937543" w="3813793">
                  <a:moveTo>
                    <a:pt x="0" y="0"/>
                  </a:moveTo>
                  <a:lnTo>
                    <a:pt x="3813793" y="0"/>
                  </a:lnTo>
                  <a:lnTo>
                    <a:pt x="3813793" y="3937543"/>
                  </a:lnTo>
                  <a:lnTo>
                    <a:pt x="0" y="3937543"/>
                  </a:lnTo>
                  <a:close/>
                </a:path>
              </a:pathLst>
            </a:custGeom>
            <a:solidFill>
              <a:srgbClr val="7AA4DD"/>
            </a:solidFill>
          </p:spPr>
        </p:sp>
        <p:sp>
          <p:nvSpPr>
            <p:cNvPr name="TextBox 4" id="4"/>
            <p:cNvSpPr txBox="true"/>
            <p:nvPr/>
          </p:nvSpPr>
          <p:spPr>
            <a:xfrm>
              <a:off x="0" y="-28575"/>
              <a:ext cx="3813793" cy="3966118"/>
            </a:xfrm>
            <a:prstGeom prst="rect">
              <a:avLst/>
            </a:prstGeom>
          </p:spPr>
          <p:txBody>
            <a:bodyPr anchor="ctr" rtlCol="false" tIns="50800" lIns="50800" bIns="50800" rIns="50800"/>
            <a:lstStyle/>
            <a:p>
              <a:pPr algn="ctr">
                <a:lnSpc>
                  <a:spcPts val="1960"/>
                </a:lnSpc>
                <a:spcBef>
                  <a:spcPct val="0"/>
                </a:spcBef>
              </a:pPr>
            </a:p>
          </p:txBody>
        </p:sp>
      </p:grpSp>
      <p:grpSp>
        <p:nvGrpSpPr>
          <p:cNvPr name="Group 5" id="5"/>
          <p:cNvGrpSpPr/>
          <p:nvPr/>
        </p:nvGrpSpPr>
        <p:grpSpPr>
          <a:xfrm rot="0">
            <a:off x="356719" y="3499552"/>
            <a:ext cx="2064913" cy="305368"/>
            <a:chOff x="0" y="0"/>
            <a:chExt cx="740018" cy="109437"/>
          </a:xfrm>
        </p:grpSpPr>
        <p:sp>
          <p:nvSpPr>
            <p:cNvPr name="Freeform 6" id="6"/>
            <p:cNvSpPr/>
            <p:nvPr/>
          </p:nvSpPr>
          <p:spPr>
            <a:xfrm flipH="false" flipV="false" rot="0">
              <a:off x="0" y="0"/>
              <a:ext cx="740018" cy="109437"/>
            </a:xfrm>
            <a:custGeom>
              <a:avLst/>
              <a:gdLst/>
              <a:ahLst/>
              <a:cxnLst/>
              <a:rect r="r" b="b" t="t" l="l"/>
              <a:pathLst>
                <a:path h="109437" w="740018">
                  <a:moveTo>
                    <a:pt x="11248" y="0"/>
                  </a:moveTo>
                  <a:lnTo>
                    <a:pt x="728770" y="0"/>
                  </a:lnTo>
                  <a:cubicBezTo>
                    <a:pt x="731753" y="0"/>
                    <a:pt x="734614" y="1185"/>
                    <a:pt x="736724" y="3294"/>
                  </a:cubicBezTo>
                  <a:cubicBezTo>
                    <a:pt x="738833" y="5404"/>
                    <a:pt x="740018" y="8265"/>
                    <a:pt x="740018" y="11248"/>
                  </a:cubicBezTo>
                  <a:lnTo>
                    <a:pt x="740018" y="98189"/>
                  </a:lnTo>
                  <a:cubicBezTo>
                    <a:pt x="740018" y="104401"/>
                    <a:pt x="734982" y="109437"/>
                    <a:pt x="728770" y="109437"/>
                  </a:cubicBezTo>
                  <a:lnTo>
                    <a:pt x="11248" y="109437"/>
                  </a:lnTo>
                  <a:cubicBezTo>
                    <a:pt x="8265" y="109437"/>
                    <a:pt x="5404" y="108252"/>
                    <a:pt x="3294" y="106142"/>
                  </a:cubicBezTo>
                  <a:cubicBezTo>
                    <a:pt x="1185" y="104033"/>
                    <a:pt x="0" y="101172"/>
                    <a:pt x="0" y="98189"/>
                  </a:cubicBezTo>
                  <a:lnTo>
                    <a:pt x="0" y="11248"/>
                  </a:lnTo>
                  <a:cubicBezTo>
                    <a:pt x="0" y="5036"/>
                    <a:pt x="5036" y="0"/>
                    <a:pt x="11248" y="0"/>
                  </a:cubicBezTo>
                  <a:close/>
                </a:path>
              </a:pathLst>
            </a:custGeom>
            <a:solidFill>
              <a:srgbClr val="F8F7F6"/>
            </a:solidFill>
          </p:spPr>
        </p:sp>
        <p:sp>
          <p:nvSpPr>
            <p:cNvPr name="TextBox 7" id="7"/>
            <p:cNvSpPr txBox="true"/>
            <p:nvPr/>
          </p:nvSpPr>
          <p:spPr>
            <a:xfrm>
              <a:off x="0" y="-19050"/>
              <a:ext cx="740018" cy="128487"/>
            </a:xfrm>
            <a:prstGeom prst="rect">
              <a:avLst/>
            </a:prstGeom>
          </p:spPr>
          <p:txBody>
            <a:bodyPr anchor="ctr" rtlCol="false" tIns="50800" lIns="50800" bIns="50800" rIns="50800"/>
            <a:lstStyle/>
            <a:p>
              <a:pPr algn="ctr">
                <a:lnSpc>
                  <a:spcPts val="2160"/>
                </a:lnSpc>
              </a:pPr>
            </a:p>
          </p:txBody>
        </p:sp>
      </p:grpSp>
      <p:grpSp>
        <p:nvGrpSpPr>
          <p:cNvPr name="Group 8" id="8"/>
          <p:cNvGrpSpPr/>
          <p:nvPr/>
        </p:nvGrpSpPr>
        <p:grpSpPr>
          <a:xfrm rot="0">
            <a:off x="3016946" y="3259092"/>
            <a:ext cx="3884130" cy="308839"/>
            <a:chOff x="0" y="0"/>
            <a:chExt cx="1391984" cy="110681"/>
          </a:xfrm>
        </p:grpSpPr>
        <p:sp>
          <p:nvSpPr>
            <p:cNvPr name="Freeform 9" id="9"/>
            <p:cNvSpPr/>
            <p:nvPr/>
          </p:nvSpPr>
          <p:spPr>
            <a:xfrm flipH="false" flipV="false" rot="0">
              <a:off x="0" y="0"/>
              <a:ext cx="1391985" cy="110681"/>
            </a:xfrm>
            <a:custGeom>
              <a:avLst/>
              <a:gdLst/>
              <a:ahLst/>
              <a:cxnLst/>
              <a:rect r="r" b="b" t="t" l="l"/>
              <a:pathLst>
                <a:path h="110681" w="1391985">
                  <a:moveTo>
                    <a:pt x="5980" y="0"/>
                  </a:moveTo>
                  <a:lnTo>
                    <a:pt x="1386005" y="0"/>
                  </a:lnTo>
                  <a:cubicBezTo>
                    <a:pt x="1387591" y="0"/>
                    <a:pt x="1389112" y="630"/>
                    <a:pt x="1390233" y="1751"/>
                  </a:cubicBezTo>
                  <a:cubicBezTo>
                    <a:pt x="1391355" y="2873"/>
                    <a:pt x="1391985" y="4394"/>
                    <a:pt x="1391985" y="5980"/>
                  </a:cubicBezTo>
                  <a:lnTo>
                    <a:pt x="1391985" y="104701"/>
                  </a:lnTo>
                  <a:cubicBezTo>
                    <a:pt x="1391985" y="106287"/>
                    <a:pt x="1391355" y="107808"/>
                    <a:pt x="1390233" y="108929"/>
                  </a:cubicBezTo>
                  <a:cubicBezTo>
                    <a:pt x="1389112" y="110051"/>
                    <a:pt x="1387591" y="110681"/>
                    <a:pt x="1386005" y="110681"/>
                  </a:cubicBezTo>
                  <a:lnTo>
                    <a:pt x="5980" y="110681"/>
                  </a:lnTo>
                  <a:cubicBezTo>
                    <a:pt x="4394" y="110681"/>
                    <a:pt x="2873" y="110051"/>
                    <a:pt x="1751" y="108929"/>
                  </a:cubicBezTo>
                  <a:cubicBezTo>
                    <a:pt x="630" y="107808"/>
                    <a:pt x="0" y="106287"/>
                    <a:pt x="0" y="104701"/>
                  </a:cubicBezTo>
                  <a:lnTo>
                    <a:pt x="0" y="5980"/>
                  </a:lnTo>
                  <a:cubicBezTo>
                    <a:pt x="0" y="4394"/>
                    <a:pt x="630" y="2873"/>
                    <a:pt x="1751" y="1751"/>
                  </a:cubicBezTo>
                  <a:cubicBezTo>
                    <a:pt x="2873" y="630"/>
                    <a:pt x="4394" y="0"/>
                    <a:pt x="5980" y="0"/>
                  </a:cubicBezTo>
                  <a:close/>
                </a:path>
              </a:pathLst>
            </a:custGeom>
            <a:solidFill>
              <a:srgbClr val="7AA4DD"/>
            </a:solidFill>
          </p:spPr>
        </p:sp>
        <p:sp>
          <p:nvSpPr>
            <p:cNvPr name="TextBox 10" id="10"/>
            <p:cNvSpPr txBox="true"/>
            <p:nvPr/>
          </p:nvSpPr>
          <p:spPr>
            <a:xfrm>
              <a:off x="0" y="-19050"/>
              <a:ext cx="1391984" cy="129731"/>
            </a:xfrm>
            <a:prstGeom prst="rect">
              <a:avLst/>
            </a:prstGeom>
          </p:spPr>
          <p:txBody>
            <a:bodyPr anchor="ctr" rtlCol="false" tIns="50800" lIns="50800" bIns="50800" rIns="50800"/>
            <a:lstStyle/>
            <a:p>
              <a:pPr algn="ctr">
                <a:lnSpc>
                  <a:spcPts val="2160"/>
                </a:lnSpc>
              </a:pPr>
            </a:p>
          </p:txBody>
        </p:sp>
      </p:grpSp>
      <p:grpSp>
        <p:nvGrpSpPr>
          <p:cNvPr name="Group 11" id="11"/>
          <p:cNvGrpSpPr/>
          <p:nvPr/>
        </p:nvGrpSpPr>
        <p:grpSpPr>
          <a:xfrm rot="0">
            <a:off x="356719" y="5357881"/>
            <a:ext cx="2039488" cy="305368"/>
            <a:chOff x="0" y="0"/>
            <a:chExt cx="730906" cy="109437"/>
          </a:xfrm>
        </p:grpSpPr>
        <p:sp>
          <p:nvSpPr>
            <p:cNvPr name="Freeform 12" id="12"/>
            <p:cNvSpPr/>
            <p:nvPr/>
          </p:nvSpPr>
          <p:spPr>
            <a:xfrm flipH="false" flipV="false" rot="0">
              <a:off x="0" y="0"/>
              <a:ext cx="730906" cy="109437"/>
            </a:xfrm>
            <a:custGeom>
              <a:avLst/>
              <a:gdLst/>
              <a:ahLst/>
              <a:cxnLst/>
              <a:rect r="r" b="b" t="t" l="l"/>
              <a:pathLst>
                <a:path h="109437" w="730906">
                  <a:moveTo>
                    <a:pt x="11388" y="0"/>
                  </a:moveTo>
                  <a:lnTo>
                    <a:pt x="719518" y="0"/>
                  </a:lnTo>
                  <a:cubicBezTo>
                    <a:pt x="722539" y="0"/>
                    <a:pt x="725435" y="1200"/>
                    <a:pt x="727571" y="3335"/>
                  </a:cubicBezTo>
                  <a:cubicBezTo>
                    <a:pt x="729707" y="5471"/>
                    <a:pt x="730906" y="8368"/>
                    <a:pt x="730906" y="11388"/>
                  </a:cubicBezTo>
                  <a:lnTo>
                    <a:pt x="730906" y="98049"/>
                  </a:lnTo>
                  <a:cubicBezTo>
                    <a:pt x="730906" y="104338"/>
                    <a:pt x="725808" y="109437"/>
                    <a:pt x="719518" y="109437"/>
                  </a:cubicBezTo>
                  <a:lnTo>
                    <a:pt x="11388" y="109437"/>
                  </a:lnTo>
                  <a:cubicBezTo>
                    <a:pt x="8368" y="109437"/>
                    <a:pt x="5471" y="108237"/>
                    <a:pt x="3335" y="106101"/>
                  </a:cubicBezTo>
                  <a:cubicBezTo>
                    <a:pt x="1200" y="103966"/>
                    <a:pt x="0" y="101069"/>
                    <a:pt x="0" y="98049"/>
                  </a:cubicBezTo>
                  <a:lnTo>
                    <a:pt x="0" y="11388"/>
                  </a:lnTo>
                  <a:cubicBezTo>
                    <a:pt x="0" y="5099"/>
                    <a:pt x="5099" y="0"/>
                    <a:pt x="11388" y="0"/>
                  </a:cubicBezTo>
                  <a:close/>
                </a:path>
              </a:pathLst>
            </a:custGeom>
            <a:solidFill>
              <a:srgbClr val="F8F7F6"/>
            </a:solidFill>
          </p:spPr>
        </p:sp>
        <p:sp>
          <p:nvSpPr>
            <p:cNvPr name="TextBox 13" id="13"/>
            <p:cNvSpPr txBox="true"/>
            <p:nvPr/>
          </p:nvSpPr>
          <p:spPr>
            <a:xfrm>
              <a:off x="0" y="-19050"/>
              <a:ext cx="730906" cy="128487"/>
            </a:xfrm>
            <a:prstGeom prst="rect">
              <a:avLst/>
            </a:prstGeom>
          </p:spPr>
          <p:txBody>
            <a:bodyPr anchor="ctr" rtlCol="false" tIns="50800" lIns="50800" bIns="50800" rIns="50800"/>
            <a:lstStyle/>
            <a:p>
              <a:pPr algn="ctr">
                <a:lnSpc>
                  <a:spcPts val="2160"/>
                </a:lnSpc>
              </a:pPr>
            </a:p>
          </p:txBody>
        </p:sp>
      </p:grpSp>
      <p:grpSp>
        <p:nvGrpSpPr>
          <p:cNvPr name="Group 14" id="14"/>
          <p:cNvGrpSpPr/>
          <p:nvPr/>
        </p:nvGrpSpPr>
        <p:grpSpPr>
          <a:xfrm rot="0">
            <a:off x="326078" y="9336634"/>
            <a:ext cx="2033576" cy="305368"/>
            <a:chOff x="0" y="0"/>
            <a:chExt cx="728788" cy="109437"/>
          </a:xfrm>
        </p:grpSpPr>
        <p:sp>
          <p:nvSpPr>
            <p:cNvPr name="Freeform 15" id="15"/>
            <p:cNvSpPr/>
            <p:nvPr/>
          </p:nvSpPr>
          <p:spPr>
            <a:xfrm flipH="false" flipV="false" rot="0">
              <a:off x="0" y="0"/>
              <a:ext cx="728788" cy="109437"/>
            </a:xfrm>
            <a:custGeom>
              <a:avLst/>
              <a:gdLst/>
              <a:ahLst/>
              <a:cxnLst/>
              <a:rect r="r" b="b" t="t" l="l"/>
              <a:pathLst>
                <a:path h="109437" w="728788">
                  <a:moveTo>
                    <a:pt x="11421" y="0"/>
                  </a:moveTo>
                  <a:lnTo>
                    <a:pt x="717367" y="0"/>
                  </a:lnTo>
                  <a:cubicBezTo>
                    <a:pt x="720396" y="0"/>
                    <a:pt x="723301" y="1203"/>
                    <a:pt x="725443" y="3345"/>
                  </a:cubicBezTo>
                  <a:cubicBezTo>
                    <a:pt x="727585" y="5487"/>
                    <a:pt x="728788" y="8392"/>
                    <a:pt x="728788" y="11421"/>
                  </a:cubicBezTo>
                  <a:lnTo>
                    <a:pt x="728788" y="98016"/>
                  </a:lnTo>
                  <a:cubicBezTo>
                    <a:pt x="728788" y="104323"/>
                    <a:pt x="723674" y="109437"/>
                    <a:pt x="717367" y="109437"/>
                  </a:cubicBezTo>
                  <a:lnTo>
                    <a:pt x="11421" y="109437"/>
                  </a:lnTo>
                  <a:cubicBezTo>
                    <a:pt x="8392" y="109437"/>
                    <a:pt x="5487" y="108234"/>
                    <a:pt x="3345" y="106092"/>
                  </a:cubicBezTo>
                  <a:cubicBezTo>
                    <a:pt x="1203" y="103950"/>
                    <a:pt x="0" y="101045"/>
                    <a:pt x="0" y="98016"/>
                  </a:cubicBezTo>
                  <a:lnTo>
                    <a:pt x="0" y="11421"/>
                  </a:lnTo>
                  <a:cubicBezTo>
                    <a:pt x="0" y="5113"/>
                    <a:pt x="5113" y="0"/>
                    <a:pt x="11421" y="0"/>
                  </a:cubicBezTo>
                  <a:close/>
                </a:path>
              </a:pathLst>
            </a:custGeom>
            <a:solidFill>
              <a:srgbClr val="F8F7F6"/>
            </a:solidFill>
          </p:spPr>
        </p:sp>
        <p:sp>
          <p:nvSpPr>
            <p:cNvPr name="TextBox 16" id="16"/>
            <p:cNvSpPr txBox="true"/>
            <p:nvPr/>
          </p:nvSpPr>
          <p:spPr>
            <a:xfrm>
              <a:off x="0" y="-19050"/>
              <a:ext cx="728788" cy="128487"/>
            </a:xfrm>
            <a:prstGeom prst="rect">
              <a:avLst/>
            </a:prstGeom>
          </p:spPr>
          <p:txBody>
            <a:bodyPr anchor="ctr" rtlCol="false" tIns="50800" lIns="50800" bIns="50800" rIns="50800"/>
            <a:lstStyle/>
            <a:p>
              <a:pPr algn="ctr">
                <a:lnSpc>
                  <a:spcPts val="2160"/>
                </a:lnSpc>
              </a:pPr>
            </a:p>
          </p:txBody>
        </p:sp>
      </p:grpSp>
      <p:sp>
        <p:nvSpPr>
          <p:cNvPr name="Freeform 17" id="17"/>
          <p:cNvSpPr/>
          <p:nvPr/>
        </p:nvSpPr>
        <p:spPr>
          <a:xfrm flipH="false" flipV="false" rot="0">
            <a:off x="382144" y="4008564"/>
            <a:ext cx="216370" cy="139264"/>
          </a:xfrm>
          <a:custGeom>
            <a:avLst/>
            <a:gdLst/>
            <a:ahLst/>
            <a:cxnLst/>
            <a:rect r="r" b="b" t="t" l="l"/>
            <a:pathLst>
              <a:path h="139264" w="216370">
                <a:moveTo>
                  <a:pt x="0" y="0"/>
                </a:moveTo>
                <a:lnTo>
                  <a:pt x="216370" y="0"/>
                </a:lnTo>
                <a:lnTo>
                  <a:pt x="216370" y="139263"/>
                </a:lnTo>
                <a:lnTo>
                  <a:pt x="0" y="1392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480182">
            <a:off x="410071" y="4335600"/>
            <a:ext cx="160516" cy="160516"/>
          </a:xfrm>
          <a:custGeom>
            <a:avLst/>
            <a:gdLst/>
            <a:ahLst/>
            <a:cxnLst/>
            <a:rect r="r" b="b" t="t" l="l"/>
            <a:pathLst>
              <a:path h="160516" w="160516">
                <a:moveTo>
                  <a:pt x="0" y="0"/>
                </a:moveTo>
                <a:lnTo>
                  <a:pt x="160516" y="0"/>
                </a:lnTo>
                <a:lnTo>
                  <a:pt x="160516" y="160516"/>
                </a:lnTo>
                <a:lnTo>
                  <a:pt x="0" y="1605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394529" y="4645565"/>
            <a:ext cx="191600" cy="181301"/>
          </a:xfrm>
          <a:custGeom>
            <a:avLst/>
            <a:gdLst/>
            <a:ahLst/>
            <a:cxnLst/>
            <a:rect r="r" b="b" t="t" l="l"/>
            <a:pathLst>
              <a:path h="181301" w="191600">
                <a:moveTo>
                  <a:pt x="0" y="0"/>
                </a:moveTo>
                <a:lnTo>
                  <a:pt x="191600" y="0"/>
                </a:lnTo>
                <a:lnTo>
                  <a:pt x="191600" y="181301"/>
                </a:lnTo>
                <a:lnTo>
                  <a:pt x="0" y="1813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0" id="20"/>
          <p:cNvGrpSpPr/>
          <p:nvPr/>
        </p:nvGrpSpPr>
        <p:grpSpPr>
          <a:xfrm rot="0">
            <a:off x="263219" y="421738"/>
            <a:ext cx="2170271" cy="2582514"/>
            <a:chOff x="0" y="0"/>
            <a:chExt cx="3790950" cy="4511040"/>
          </a:xfrm>
        </p:grpSpPr>
        <p:sp>
          <p:nvSpPr>
            <p:cNvPr name="Freeform 21" id="21"/>
            <p:cNvSpPr/>
            <p:nvPr/>
          </p:nvSpPr>
          <p:spPr>
            <a:xfrm flipH="false" flipV="false" rot="0">
              <a:off x="158750" y="158750"/>
              <a:ext cx="3473450" cy="4193540"/>
            </a:xfrm>
            <a:custGeom>
              <a:avLst/>
              <a:gdLst/>
              <a:ahLst/>
              <a:cxnLst/>
              <a:rect r="r" b="b" t="t" l="l"/>
              <a:pathLst>
                <a:path h="4193540" w="3473450">
                  <a:moveTo>
                    <a:pt x="0" y="0"/>
                  </a:moveTo>
                  <a:lnTo>
                    <a:pt x="3473450" y="0"/>
                  </a:lnTo>
                  <a:lnTo>
                    <a:pt x="3473450" y="4193540"/>
                  </a:lnTo>
                  <a:lnTo>
                    <a:pt x="0" y="4193540"/>
                  </a:lnTo>
                  <a:close/>
                </a:path>
              </a:pathLst>
            </a:custGeom>
            <a:blipFill>
              <a:blip r:embed="rId8"/>
              <a:stretch>
                <a:fillRect l="0" t="-5219" r="0" b="-5219"/>
              </a:stretch>
            </a:blipFill>
          </p:spPr>
        </p:sp>
      </p:grpSp>
      <p:sp>
        <p:nvSpPr>
          <p:cNvPr name="TextBox 22" id="22"/>
          <p:cNvSpPr txBox="true"/>
          <p:nvPr/>
        </p:nvSpPr>
        <p:spPr>
          <a:xfrm rot="0">
            <a:off x="2800684" y="336377"/>
            <a:ext cx="4831354" cy="537849"/>
          </a:xfrm>
          <a:prstGeom prst="rect">
            <a:avLst/>
          </a:prstGeom>
        </p:spPr>
        <p:txBody>
          <a:bodyPr anchor="t" rtlCol="false" tIns="0" lIns="0" bIns="0" rIns="0">
            <a:spAutoFit/>
          </a:bodyPr>
          <a:lstStyle/>
          <a:p>
            <a:pPr algn="l">
              <a:lnSpc>
                <a:spcPts val="3849"/>
              </a:lnSpc>
            </a:pPr>
            <a:r>
              <a:rPr lang="en-US" sz="4424" spc="-185">
                <a:solidFill>
                  <a:srgbClr val="7AA4DD"/>
                </a:solidFill>
                <a:latin typeface="Barlow"/>
                <a:ea typeface="Barlow"/>
                <a:cs typeface="Barlow"/>
                <a:sym typeface="Barlow"/>
              </a:rPr>
              <a:t>Anthony BERTHELIN</a:t>
            </a:r>
          </a:p>
        </p:txBody>
      </p:sp>
      <p:sp>
        <p:nvSpPr>
          <p:cNvPr name="TextBox 23" id="23"/>
          <p:cNvSpPr txBox="true"/>
          <p:nvPr/>
        </p:nvSpPr>
        <p:spPr>
          <a:xfrm rot="0">
            <a:off x="418634" y="3549846"/>
            <a:ext cx="1949464" cy="195253"/>
          </a:xfrm>
          <a:prstGeom prst="rect">
            <a:avLst/>
          </a:prstGeom>
        </p:spPr>
        <p:txBody>
          <a:bodyPr anchor="t" rtlCol="false" tIns="0" lIns="0" bIns="0" rIns="0">
            <a:spAutoFit/>
          </a:bodyPr>
          <a:lstStyle/>
          <a:p>
            <a:pPr algn="ctr">
              <a:lnSpc>
                <a:spcPts val="1540"/>
              </a:lnSpc>
            </a:pPr>
            <a:r>
              <a:rPr lang="en-US" b="true" sz="1252" spc="25">
                <a:solidFill>
                  <a:srgbClr val="7AA4DD"/>
                </a:solidFill>
                <a:latin typeface="Barlow Bold"/>
                <a:ea typeface="Barlow Bold"/>
                <a:cs typeface="Barlow Bold"/>
                <a:sym typeface="Barlow Bold"/>
              </a:rPr>
              <a:t>CONTACT</a:t>
            </a:r>
          </a:p>
        </p:txBody>
      </p:sp>
      <p:sp>
        <p:nvSpPr>
          <p:cNvPr name="TextBox 24" id="24"/>
          <p:cNvSpPr txBox="true"/>
          <p:nvPr/>
        </p:nvSpPr>
        <p:spPr>
          <a:xfrm rot="0">
            <a:off x="3016946" y="3311123"/>
            <a:ext cx="3884130" cy="195253"/>
          </a:xfrm>
          <a:prstGeom prst="rect">
            <a:avLst/>
          </a:prstGeom>
        </p:spPr>
        <p:txBody>
          <a:bodyPr anchor="t" rtlCol="false" tIns="0" lIns="0" bIns="0" rIns="0">
            <a:spAutoFit/>
          </a:bodyPr>
          <a:lstStyle/>
          <a:p>
            <a:pPr algn="ctr">
              <a:lnSpc>
                <a:spcPts val="1540"/>
              </a:lnSpc>
            </a:pPr>
            <a:r>
              <a:rPr lang="en-US" b="true" sz="1252" spc="25">
                <a:solidFill>
                  <a:srgbClr val="FFFFFF"/>
                </a:solidFill>
                <a:latin typeface="Barlow Bold"/>
                <a:ea typeface="Barlow Bold"/>
                <a:cs typeface="Barlow Bold"/>
                <a:sym typeface="Barlow Bold"/>
              </a:rPr>
              <a:t>EXPÉRIENCES PROFESSIONNELLES</a:t>
            </a:r>
          </a:p>
        </p:txBody>
      </p:sp>
      <p:sp>
        <p:nvSpPr>
          <p:cNvPr name="TextBox 25" id="25"/>
          <p:cNvSpPr txBox="true"/>
          <p:nvPr/>
        </p:nvSpPr>
        <p:spPr>
          <a:xfrm rot="0">
            <a:off x="362208" y="5408175"/>
            <a:ext cx="1972294" cy="195253"/>
          </a:xfrm>
          <a:prstGeom prst="rect">
            <a:avLst/>
          </a:prstGeom>
        </p:spPr>
        <p:txBody>
          <a:bodyPr anchor="t" rtlCol="false" tIns="0" lIns="0" bIns="0" rIns="0">
            <a:spAutoFit/>
          </a:bodyPr>
          <a:lstStyle/>
          <a:p>
            <a:pPr algn="ctr">
              <a:lnSpc>
                <a:spcPts val="1540"/>
              </a:lnSpc>
            </a:pPr>
            <a:r>
              <a:rPr lang="en-US" b="true" sz="1252" spc="25">
                <a:solidFill>
                  <a:srgbClr val="7AA4DD"/>
                </a:solidFill>
                <a:latin typeface="Barlow Bold"/>
                <a:ea typeface="Barlow Bold"/>
                <a:cs typeface="Barlow Bold"/>
                <a:sym typeface="Barlow Bold"/>
              </a:rPr>
              <a:t>COMPÉTENCES</a:t>
            </a:r>
          </a:p>
        </p:txBody>
      </p:sp>
      <p:sp>
        <p:nvSpPr>
          <p:cNvPr name="TextBox 26" id="26"/>
          <p:cNvSpPr txBox="true"/>
          <p:nvPr/>
        </p:nvSpPr>
        <p:spPr>
          <a:xfrm rot="0">
            <a:off x="382144" y="9371916"/>
            <a:ext cx="1901566" cy="206332"/>
          </a:xfrm>
          <a:prstGeom prst="rect">
            <a:avLst/>
          </a:prstGeom>
        </p:spPr>
        <p:txBody>
          <a:bodyPr anchor="t" rtlCol="false" tIns="0" lIns="0" bIns="0" rIns="0">
            <a:spAutoFit/>
          </a:bodyPr>
          <a:lstStyle/>
          <a:p>
            <a:pPr algn="ctr">
              <a:lnSpc>
                <a:spcPts val="1678"/>
              </a:lnSpc>
            </a:pPr>
            <a:r>
              <a:rPr lang="en-US" b="true" sz="1252" spc="25">
                <a:solidFill>
                  <a:srgbClr val="7AA4DD"/>
                </a:solidFill>
                <a:latin typeface="Barlow Bold"/>
                <a:ea typeface="Barlow Bold"/>
                <a:cs typeface="Barlow Bold"/>
                <a:sym typeface="Barlow Bold"/>
              </a:rPr>
              <a:t>FORMATIONS</a:t>
            </a:r>
          </a:p>
        </p:txBody>
      </p:sp>
      <p:sp>
        <p:nvSpPr>
          <p:cNvPr name="TextBox 27" id="27"/>
          <p:cNvSpPr txBox="true"/>
          <p:nvPr/>
        </p:nvSpPr>
        <p:spPr>
          <a:xfrm rot="0">
            <a:off x="54414" y="5758498"/>
            <a:ext cx="2557025" cy="3292432"/>
          </a:xfrm>
          <a:prstGeom prst="rect">
            <a:avLst/>
          </a:prstGeom>
        </p:spPr>
        <p:txBody>
          <a:bodyPr anchor="t" rtlCol="false" tIns="0" lIns="0" bIns="0" rIns="0">
            <a:spAutoFit/>
          </a:bodyPr>
          <a:lstStyle/>
          <a:p>
            <a:pPr algn="ctr">
              <a:lnSpc>
                <a:spcPts val="2248"/>
              </a:lnSpc>
            </a:pPr>
            <a:r>
              <a:rPr lang="en-US" b="true" sz="1164" spc="66">
                <a:solidFill>
                  <a:srgbClr val="FFFFFF"/>
                </a:solidFill>
                <a:latin typeface="Barlow Bold"/>
                <a:ea typeface="Barlow Bold"/>
                <a:cs typeface="Barlow Bold"/>
                <a:sym typeface="Barlow Bold"/>
              </a:rPr>
              <a:t>Vigilance</a:t>
            </a:r>
          </a:p>
          <a:p>
            <a:pPr algn="ctr">
              <a:lnSpc>
                <a:spcPts val="2248"/>
              </a:lnSpc>
            </a:pPr>
            <a:r>
              <a:rPr lang="en-US" b="true" sz="1164" spc="66">
                <a:solidFill>
                  <a:srgbClr val="FFFFFF"/>
                </a:solidFill>
                <a:latin typeface="Barlow Bold"/>
                <a:ea typeface="Barlow Bold"/>
                <a:cs typeface="Barlow Bold"/>
                <a:sym typeface="Barlow Bold"/>
              </a:rPr>
              <a:t>Gestion des situations dangeureuses</a:t>
            </a:r>
          </a:p>
          <a:p>
            <a:pPr algn="ctr">
              <a:lnSpc>
                <a:spcPts val="2248"/>
              </a:lnSpc>
            </a:pPr>
            <a:r>
              <a:rPr lang="en-US" b="true" sz="1164" spc="66">
                <a:solidFill>
                  <a:srgbClr val="FFFFFF"/>
                </a:solidFill>
                <a:latin typeface="Barlow Bold"/>
                <a:ea typeface="Barlow Bold"/>
                <a:cs typeface="Barlow Bold"/>
                <a:sym typeface="Barlow Bold"/>
              </a:rPr>
              <a:t>Rigueur</a:t>
            </a:r>
          </a:p>
          <a:p>
            <a:pPr algn="ctr">
              <a:lnSpc>
                <a:spcPts val="2248"/>
              </a:lnSpc>
            </a:pPr>
            <a:r>
              <a:rPr lang="en-US" b="true" sz="1164" spc="66">
                <a:solidFill>
                  <a:srgbClr val="FFFFFF"/>
                </a:solidFill>
                <a:latin typeface="Barlow Bold"/>
                <a:ea typeface="Barlow Bold"/>
                <a:cs typeface="Barlow Bold"/>
                <a:sym typeface="Barlow Bold"/>
              </a:rPr>
              <a:t>Responsable</a:t>
            </a:r>
          </a:p>
          <a:p>
            <a:pPr algn="ctr">
              <a:lnSpc>
                <a:spcPts val="2248"/>
              </a:lnSpc>
            </a:pPr>
            <a:r>
              <a:rPr lang="en-US" b="true" sz="1164" spc="66">
                <a:solidFill>
                  <a:srgbClr val="FFFFFF"/>
                </a:solidFill>
                <a:latin typeface="Barlow Bold"/>
                <a:ea typeface="Barlow Bold"/>
                <a:cs typeface="Barlow Bold"/>
                <a:sym typeface="Barlow Bold"/>
              </a:rPr>
              <a:t>Autonomie</a:t>
            </a:r>
          </a:p>
          <a:p>
            <a:pPr algn="ctr">
              <a:lnSpc>
                <a:spcPts val="2248"/>
              </a:lnSpc>
            </a:pPr>
            <a:r>
              <a:rPr lang="en-US" b="true" sz="1164" spc="66">
                <a:solidFill>
                  <a:srgbClr val="FFFFFF"/>
                </a:solidFill>
                <a:latin typeface="Barlow Bold"/>
                <a:ea typeface="Barlow Bold"/>
                <a:cs typeface="Barlow Bold"/>
                <a:sym typeface="Barlow Bold"/>
              </a:rPr>
              <a:t>Observation</a:t>
            </a:r>
          </a:p>
          <a:p>
            <a:pPr algn="ctr">
              <a:lnSpc>
                <a:spcPts val="2248"/>
              </a:lnSpc>
            </a:pPr>
            <a:r>
              <a:rPr lang="en-US" b="true" sz="1164" spc="66">
                <a:solidFill>
                  <a:srgbClr val="FFFFFF"/>
                </a:solidFill>
                <a:latin typeface="Barlow Bold"/>
                <a:ea typeface="Barlow Bold"/>
                <a:cs typeface="Barlow Bold"/>
                <a:sym typeface="Barlow Bold"/>
              </a:rPr>
              <a:t>Polyvalence</a:t>
            </a:r>
          </a:p>
          <a:p>
            <a:pPr algn="ctr">
              <a:lnSpc>
                <a:spcPts val="2248"/>
              </a:lnSpc>
            </a:pPr>
            <a:r>
              <a:rPr lang="en-US" b="true" sz="1164" spc="66">
                <a:solidFill>
                  <a:srgbClr val="FFFFFF"/>
                </a:solidFill>
                <a:latin typeface="Barlow Bold"/>
                <a:ea typeface="Barlow Bold"/>
                <a:cs typeface="Barlow Bold"/>
                <a:sym typeface="Barlow Bold"/>
              </a:rPr>
              <a:t>Accueil et relation client</a:t>
            </a:r>
          </a:p>
          <a:p>
            <a:pPr algn="ctr">
              <a:lnSpc>
                <a:spcPts val="2248"/>
              </a:lnSpc>
            </a:pPr>
            <a:r>
              <a:rPr lang="en-US" b="true" sz="1164" spc="66">
                <a:solidFill>
                  <a:srgbClr val="FFFFFF"/>
                </a:solidFill>
                <a:latin typeface="Barlow Bold"/>
                <a:ea typeface="Barlow Bold"/>
                <a:cs typeface="Barlow Bold"/>
                <a:sym typeface="Barlow Bold"/>
              </a:rPr>
              <a:t>Gestion du stress</a:t>
            </a:r>
          </a:p>
          <a:p>
            <a:pPr algn="ctr">
              <a:lnSpc>
                <a:spcPts val="2248"/>
              </a:lnSpc>
            </a:pPr>
            <a:r>
              <a:rPr lang="en-US" b="true" sz="1164" spc="66">
                <a:solidFill>
                  <a:srgbClr val="FFFFFF"/>
                </a:solidFill>
                <a:latin typeface="Barlow Bold"/>
                <a:ea typeface="Barlow Bold"/>
                <a:cs typeface="Barlow Bold"/>
                <a:sym typeface="Barlow Bold"/>
              </a:rPr>
              <a:t>Respect des consignes de Sécurité</a:t>
            </a:r>
          </a:p>
        </p:txBody>
      </p:sp>
      <p:sp>
        <p:nvSpPr>
          <p:cNvPr name="TextBox 28" id="28"/>
          <p:cNvSpPr txBox="true"/>
          <p:nvPr/>
        </p:nvSpPr>
        <p:spPr>
          <a:xfrm rot="0">
            <a:off x="108823" y="9775351"/>
            <a:ext cx="2621168" cy="492278"/>
          </a:xfrm>
          <a:prstGeom prst="rect">
            <a:avLst/>
          </a:prstGeom>
        </p:spPr>
        <p:txBody>
          <a:bodyPr anchor="t" rtlCol="false" tIns="0" lIns="0" bIns="0" rIns="0">
            <a:spAutoFit/>
          </a:bodyPr>
          <a:lstStyle/>
          <a:p>
            <a:pPr algn="l">
              <a:lnSpc>
                <a:spcPts val="2045"/>
              </a:lnSpc>
            </a:pPr>
            <a:r>
              <a:rPr lang="en-US" sz="1059" spc="60" b="true">
                <a:solidFill>
                  <a:srgbClr val="FFFFFF"/>
                </a:solidFill>
                <a:latin typeface="Barlow Bold"/>
                <a:ea typeface="Barlow Bold"/>
                <a:cs typeface="Barlow Bold"/>
                <a:sym typeface="Barlow Bold"/>
              </a:rPr>
              <a:t>2009 : C.Q.P.M-Tuyauteur industriel</a:t>
            </a:r>
          </a:p>
          <a:p>
            <a:pPr algn="l">
              <a:lnSpc>
                <a:spcPts val="2045"/>
              </a:lnSpc>
            </a:pPr>
            <a:r>
              <a:rPr lang="en-US" sz="1059" spc="60" b="true">
                <a:solidFill>
                  <a:srgbClr val="FFFFFF"/>
                </a:solidFill>
                <a:latin typeface="Barlow Bold"/>
                <a:ea typeface="Barlow Bold"/>
                <a:cs typeface="Barlow Bold"/>
                <a:sym typeface="Barlow Bold"/>
              </a:rPr>
              <a:t>1996 : CAP P</a:t>
            </a:r>
            <a:r>
              <a:rPr lang="en-US" sz="1059" spc="60" b="true">
                <a:solidFill>
                  <a:srgbClr val="FFFFFF"/>
                </a:solidFill>
                <a:latin typeface="Barlow Bold"/>
                <a:ea typeface="Barlow Bold"/>
                <a:cs typeface="Barlow Bold"/>
                <a:sym typeface="Barlow Bold"/>
              </a:rPr>
              <a:t>arcs et jardins</a:t>
            </a:r>
          </a:p>
        </p:txBody>
      </p:sp>
      <p:sp>
        <p:nvSpPr>
          <p:cNvPr name="TextBox 29" id="29"/>
          <p:cNvSpPr txBox="true"/>
          <p:nvPr/>
        </p:nvSpPr>
        <p:spPr>
          <a:xfrm rot="0">
            <a:off x="684000" y="3999039"/>
            <a:ext cx="1933022" cy="167640"/>
          </a:xfrm>
          <a:prstGeom prst="rect">
            <a:avLst/>
          </a:prstGeom>
        </p:spPr>
        <p:txBody>
          <a:bodyPr anchor="t" rtlCol="false" tIns="0" lIns="0" bIns="0" rIns="0">
            <a:spAutoFit/>
          </a:bodyPr>
          <a:lstStyle/>
          <a:p>
            <a:pPr algn="l">
              <a:lnSpc>
                <a:spcPts val="1365"/>
              </a:lnSpc>
            </a:pPr>
            <a:r>
              <a:rPr lang="en-US" sz="1050" spc="-6" b="true">
                <a:solidFill>
                  <a:srgbClr val="F8F7F6"/>
                </a:solidFill>
                <a:latin typeface="Barlow Bold"/>
                <a:ea typeface="Barlow Bold"/>
                <a:cs typeface="Barlow Bold"/>
                <a:sym typeface="Barlow Bold"/>
              </a:rPr>
              <a:t>sergioneliacyria@gmail.com</a:t>
            </a:r>
          </a:p>
        </p:txBody>
      </p:sp>
      <p:sp>
        <p:nvSpPr>
          <p:cNvPr name="TextBox 30" id="30"/>
          <p:cNvSpPr txBox="true"/>
          <p:nvPr/>
        </p:nvSpPr>
        <p:spPr>
          <a:xfrm rot="0">
            <a:off x="684000" y="4343648"/>
            <a:ext cx="958390" cy="167640"/>
          </a:xfrm>
          <a:prstGeom prst="rect">
            <a:avLst/>
          </a:prstGeom>
        </p:spPr>
        <p:txBody>
          <a:bodyPr anchor="t" rtlCol="false" tIns="0" lIns="0" bIns="0" rIns="0">
            <a:spAutoFit/>
          </a:bodyPr>
          <a:lstStyle/>
          <a:p>
            <a:pPr algn="l">
              <a:lnSpc>
                <a:spcPts val="1365"/>
              </a:lnSpc>
            </a:pPr>
            <a:r>
              <a:rPr lang="en-US" b="true" sz="1050" spc="-6">
                <a:solidFill>
                  <a:srgbClr val="F8F7F6"/>
                </a:solidFill>
                <a:latin typeface="Barlow Bold"/>
                <a:ea typeface="Barlow Bold"/>
                <a:cs typeface="Barlow Bold"/>
                <a:sym typeface="Barlow Bold"/>
              </a:rPr>
              <a:t>07- 80- 31-95-92</a:t>
            </a:r>
          </a:p>
        </p:txBody>
      </p:sp>
      <p:sp>
        <p:nvSpPr>
          <p:cNvPr name="TextBox 31" id="31"/>
          <p:cNvSpPr txBox="true"/>
          <p:nvPr/>
        </p:nvSpPr>
        <p:spPr>
          <a:xfrm rot="0">
            <a:off x="684000" y="4675891"/>
            <a:ext cx="1854626" cy="167640"/>
          </a:xfrm>
          <a:prstGeom prst="rect">
            <a:avLst/>
          </a:prstGeom>
        </p:spPr>
        <p:txBody>
          <a:bodyPr anchor="t" rtlCol="false" tIns="0" lIns="0" bIns="0" rIns="0">
            <a:spAutoFit/>
          </a:bodyPr>
          <a:lstStyle/>
          <a:p>
            <a:pPr algn="l">
              <a:lnSpc>
                <a:spcPts val="1365"/>
              </a:lnSpc>
            </a:pPr>
            <a:r>
              <a:rPr lang="en-US" b="true" sz="1050" spc="-6">
                <a:solidFill>
                  <a:srgbClr val="F8F7F6"/>
                </a:solidFill>
                <a:latin typeface="Barlow Bold"/>
                <a:ea typeface="Barlow Bold"/>
                <a:cs typeface="Barlow Bold"/>
                <a:sym typeface="Barlow Bold"/>
              </a:rPr>
              <a:t>ARLES 13200</a:t>
            </a:r>
          </a:p>
        </p:txBody>
      </p:sp>
      <p:sp>
        <p:nvSpPr>
          <p:cNvPr name="TextBox 32" id="32"/>
          <p:cNvSpPr txBox="true"/>
          <p:nvPr/>
        </p:nvSpPr>
        <p:spPr>
          <a:xfrm rot="0">
            <a:off x="2800684" y="1112352"/>
            <a:ext cx="4316653" cy="304927"/>
          </a:xfrm>
          <a:prstGeom prst="rect">
            <a:avLst/>
          </a:prstGeom>
        </p:spPr>
        <p:txBody>
          <a:bodyPr anchor="t" rtlCol="false" tIns="0" lIns="0" bIns="0" rIns="0">
            <a:spAutoFit/>
          </a:bodyPr>
          <a:lstStyle/>
          <a:p>
            <a:pPr algn="l">
              <a:lnSpc>
                <a:spcPts val="2413"/>
              </a:lnSpc>
            </a:pPr>
            <a:r>
              <a:rPr lang="en-US" b="true" sz="1699" spc="169">
                <a:solidFill>
                  <a:srgbClr val="7AA4DD"/>
                </a:solidFill>
                <a:latin typeface="Inter Bold"/>
                <a:ea typeface="Inter Bold"/>
                <a:cs typeface="Inter Bold"/>
                <a:sym typeface="Inter Bold"/>
              </a:rPr>
              <a:t>VEILLEUR DE NUIT</a:t>
            </a:r>
          </a:p>
        </p:txBody>
      </p:sp>
      <p:sp>
        <p:nvSpPr>
          <p:cNvPr name="TextBox 33" id="33"/>
          <p:cNvSpPr txBox="true"/>
          <p:nvPr/>
        </p:nvSpPr>
        <p:spPr>
          <a:xfrm rot="0">
            <a:off x="2800684" y="1683979"/>
            <a:ext cx="4589983" cy="1255401"/>
          </a:xfrm>
          <a:prstGeom prst="rect">
            <a:avLst/>
          </a:prstGeom>
        </p:spPr>
        <p:txBody>
          <a:bodyPr anchor="t" rtlCol="false" tIns="0" lIns="0" bIns="0" rIns="0">
            <a:spAutoFit/>
          </a:bodyPr>
          <a:lstStyle/>
          <a:p>
            <a:pPr algn="l">
              <a:lnSpc>
                <a:spcPts val="1653"/>
              </a:lnSpc>
            </a:pPr>
            <a:r>
              <a:rPr lang="en-US" sz="1240">
                <a:solidFill>
                  <a:srgbClr val="000000"/>
                </a:solidFill>
                <a:latin typeface="PT Sans"/>
                <a:ea typeface="PT Sans"/>
                <a:cs typeface="PT Sans"/>
                <a:sym typeface="PT Sans"/>
              </a:rPr>
              <a:t>Grâce à des expériences variées dans les secteurs marchand et non-marchand, j’ai développé une grande capacité d’adaptation, un sens des responsabilités ainsi qu’une excellente vigilance. Calme, réactif et rigoureux, je sais assurer la sécurité des lieux et des personnes, gérer les situations imprévues et veiller au bon déroulement des interventions durant la nuit.</a:t>
            </a:r>
          </a:p>
        </p:txBody>
      </p:sp>
      <p:sp>
        <p:nvSpPr>
          <p:cNvPr name="TextBox 34" id="34"/>
          <p:cNvSpPr txBox="true"/>
          <p:nvPr/>
        </p:nvSpPr>
        <p:spPr>
          <a:xfrm rot="0">
            <a:off x="2900667" y="3887644"/>
            <a:ext cx="4490000" cy="6696075"/>
          </a:xfrm>
          <a:prstGeom prst="rect">
            <a:avLst/>
          </a:prstGeom>
        </p:spPr>
        <p:txBody>
          <a:bodyPr anchor="t" rtlCol="false" tIns="0" lIns="0" bIns="0" rIns="0">
            <a:spAutoFit/>
          </a:bodyPr>
          <a:lstStyle/>
          <a:p>
            <a:pPr algn="just">
              <a:lnSpc>
                <a:spcPts val="1487"/>
              </a:lnSpc>
            </a:pPr>
            <a:r>
              <a:rPr lang="en-US" sz="1239" b="true">
                <a:solidFill>
                  <a:srgbClr val="000000"/>
                </a:solidFill>
                <a:latin typeface="PT Sans Bold"/>
                <a:ea typeface="PT Sans Bold"/>
                <a:cs typeface="PT Sans Bold"/>
                <a:sym typeface="PT Sans Bold"/>
              </a:rPr>
              <a:t>Paysagiste</a:t>
            </a:r>
          </a:p>
          <a:p>
            <a:pPr algn="just">
              <a:lnSpc>
                <a:spcPts val="1487"/>
              </a:lnSpc>
            </a:pPr>
            <a:r>
              <a:rPr lang="en-US" sz="1239" b="true">
                <a:solidFill>
                  <a:srgbClr val="000000"/>
                </a:solidFill>
                <a:latin typeface="PT Sans Bold"/>
                <a:ea typeface="PT Sans Bold"/>
                <a:cs typeface="PT Sans Bold"/>
                <a:sym typeface="PT Sans Bold"/>
              </a:rPr>
              <a:t>Regards - Arles</a:t>
            </a:r>
          </a:p>
          <a:p>
            <a:pPr algn="just">
              <a:lnSpc>
                <a:spcPts val="1487"/>
              </a:lnSpc>
            </a:pPr>
            <a:r>
              <a:rPr lang="en-US" sz="1239" b="true">
                <a:solidFill>
                  <a:srgbClr val="7AA4DD"/>
                </a:solidFill>
                <a:latin typeface="PT Sans Bold"/>
                <a:ea typeface="PT Sans Bold"/>
                <a:cs typeface="PT Sans Bold"/>
                <a:sym typeface="PT Sans Bold"/>
              </a:rPr>
              <a:t>2024-2025</a:t>
            </a:r>
          </a:p>
          <a:p>
            <a:pPr algn="just">
              <a:lnSpc>
                <a:spcPts val="1487"/>
              </a:lnSpc>
            </a:pPr>
            <a:r>
              <a:rPr lang="en-US" sz="1239">
                <a:solidFill>
                  <a:srgbClr val="000000"/>
                </a:solidFill>
                <a:latin typeface="PT Sans"/>
                <a:ea typeface="PT Sans"/>
                <a:cs typeface="PT Sans"/>
                <a:sym typeface="PT Sans"/>
              </a:rPr>
              <a:t>Paysagiste fort d’une solide expérience dans l’aménagement et l’entretien des espaces verts, j’interviens avec rigueur et savoir-faire dans des environnements exigeants où précision, sécurité et respect de l’environnement sont essentiels. Habitué au travail en équipe comme en autonomie, de la création paysagère à l’entretien des extérieurs, je mets mes compétences techniques et mon sens du détail au service d’espaces harmonieux, soignés et durables.</a:t>
            </a:r>
          </a:p>
          <a:p>
            <a:pPr algn="just">
              <a:lnSpc>
                <a:spcPts val="1487"/>
              </a:lnSpc>
            </a:pPr>
          </a:p>
          <a:p>
            <a:pPr algn="just">
              <a:lnSpc>
                <a:spcPts val="1487"/>
              </a:lnSpc>
            </a:pPr>
            <a:r>
              <a:rPr lang="en-US" sz="1239" b="true">
                <a:solidFill>
                  <a:srgbClr val="000000"/>
                </a:solidFill>
                <a:latin typeface="PT Sans Bold"/>
                <a:ea typeface="PT Sans Bold"/>
                <a:cs typeface="PT Sans Bold"/>
                <a:sym typeface="PT Sans Bold"/>
              </a:rPr>
              <a:t>Agent d’accueil</a:t>
            </a:r>
          </a:p>
          <a:p>
            <a:pPr algn="just">
              <a:lnSpc>
                <a:spcPts val="1487"/>
              </a:lnSpc>
            </a:pPr>
            <a:r>
              <a:rPr lang="en-US" sz="1239" b="true">
                <a:solidFill>
                  <a:srgbClr val="000000"/>
                </a:solidFill>
                <a:latin typeface="PT Sans Bold"/>
                <a:ea typeface="PT Sans Bold"/>
                <a:cs typeface="PT Sans Bold"/>
                <a:sym typeface="PT Sans Bold"/>
              </a:rPr>
              <a:t>Rencontre de la photo - Arles</a:t>
            </a:r>
          </a:p>
          <a:p>
            <a:pPr algn="just">
              <a:lnSpc>
                <a:spcPts val="1487"/>
              </a:lnSpc>
            </a:pPr>
            <a:r>
              <a:rPr lang="en-US" sz="1239" b="true">
                <a:solidFill>
                  <a:srgbClr val="7AA4DD"/>
                </a:solidFill>
                <a:latin typeface="PT Sans Bold"/>
                <a:ea typeface="PT Sans Bold"/>
                <a:cs typeface="PT Sans Bold"/>
                <a:sym typeface="PT Sans Bold"/>
              </a:rPr>
              <a:t>2023</a:t>
            </a:r>
            <a:r>
              <a:rPr lang="en-US" sz="1239">
                <a:solidFill>
                  <a:srgbClr val="7AA4DD"/>
                </a:solidFill>
                <a:latin typeface="PT Sans"/>
                <a:ea typeface="PT Sans"/>
                <a:cs typeface="PT Sans"/>
                <a:sym typeface="PT Sans"/>
              </a:rPr>
              <a:t>  </a:t>
            </a:r>
          </a:p>
          <a:p>
            <a:pPr algn="just">
              <a:lnSpc>
                <a:spcPts val="1487"/>
              </a:lnSpc>
            </a:pPr>
            <a:r>
              <a:rPr lang="en-US" sz="1239">
                <a:solidFill>
                  <a:srgbClr val="000000"/>
                </a:solidFill>
                <a:latin typeface="PT Sans"/>
                <a:ea typeface="PT Sans"/>
                <a:cs typeface="PT Sans"/>
                <a:sym typeface="PT Sans"/>
              </a:rPr>
              <a:t>Agent d’accueil doté d’un excellent sens du relationnel e</a:t>
            </a:r>
            <a:r>
              <a:rPr lang="en-US" sz="1239">
                <a:solidFill>
                  <a:srgbClr val="000000"/>
                </a:solidFill>
                <a:latin typeface="PT Sans"/>
                <a:ea typeface="PT Sans"/>
                <a:cs typeface="PT Sans"/>
                <a:sym typeface="PT Sans"/>
              </a:rPr>
              <a:t>t du service, j’assure l’accueil, l’orientation et l’accompagnement du public avec professionnalisme et bienveillance. Organisé, réactif et à l’écoute, je sais gérer les demandes avec efficacité, garantir une communication fluide et contribuer à offrir une image positive et accueillante de l’établissement.</a:t>
            </a:r>
          </a:p>
          <a:p>
            <a:pPr algn="just">
              <a:lnSpc>
                <a:spcPts val="1487"/>
              </a:lnSpc>
            </a:pPr>
          </a:p>
          <a:p>
            <a:pPr algn="just">
              <a:lnSpc>
                <a:spcPts val="1487"/>
              </a:lnSpc>
            </a:pPr>
            <a:r>
              <a:rPr lang="en-US" sz="1239" b="true">
                <a:solidFill>
                  <a:srgbClr val="000000"/>
                </a:solidFill>
                <a:latin typeface="PT Sans Bold"/>
                <a:ea typeface="PT Sans Bold"/>
                <a:cs typeface="PT Sans Bold"/>
                <a:sym typeface="PT Sans Bold"/>
              </a:rPr>
              <a:t>Chauffeur, Livreur, Préparateur de commande</a:t>
            </a:r>
          </a:p>
          <a:p>
            <a:pPr algn="just">
              <a:lnSpc>
                <a:spcPts val="1487"/>
              </a:lnSpc>
            </a:pPr>
            <a:r>
              <a:rPr lang="en-US" sz="1239" b="true">
                <a:solidFill>
                  <a:srgbClr val="000000"/>
                </a:solidFill>
                <a:latin typeface="PT Sans Bold"/>
                <a:ea typeface="PT Sans Bold"/>
                <a:cs typeface="PT Sans Bold"/>
                <a:sym typeface="PT Sans Bold"/>
              </a:rPr>
              <a:t>Promocash, Foodex, Maison du Monde, DHL, Amazon - Arles</a:t>
            </a:r>
          </a:p>
          <a:p>
            <a:pPr algn="just">
              <a:lnSpc>
                <a:spcPts val="1487"/>
              </a:lnSpc>
            </a:pPr>
            <a:r>
              <a:rPr lang="en-US" sz="1239" b="true">
                <a:solidFill>
                  <a:srgbClr val="7AA4DD"/>
                </a:solidFill>
                <a:latin typeface="PT Sans Bold"/>
                <a:ea typeface="PT Sans Bold"/>
                <a:cs typeface="PT Sans Bold"/>
                <a:sym typeface="PT Sans Bold"/>
              </a:rPr>
              <a:t>2001 - 2023</a:t>
            </a:r>
            <a:r>
              <a:rPr lang="en-US" sz="1239">
                <a:solidFill>
                  <a:srgbClr val="000000"/>
                </a:solidFill>
                <a:latin typeface="PT Sans"/>
                <a:ea typeface="PT Sans"/>
                <a:cs typeface="PT Sans"/>
                <a:sym typeface="PT Sans"/>
              </a:rPr>
              <a:t> </a:t>
            </a:r>
          </a:p>
          <a:p>
            <a:pPr algn="just">
              <a:lnSpc>
                <a:spcPts val="1487"/>
              </a:lnSpc>
            </a:pPr>
            <a:r>
              <a:rPr lang="en-US" sz="1239">
                <a:solidFill>
                  <a:srgbClr val="000000"/>
                </a:solidFill>
                <a:latin typeface="PT Sans"/>
                <a:ea typeface="PT Sans"/>
                <a:cs typeface="PT Sans"/>
                <a:sym typeface="PT Sans"/>
              </a:rPr>
              <a:t>Préparateur de commandes rigoureux et organisé, j’assure la réception, la préparation et le contrôle des marchandises avec efficacité et précision. Réactif et attentif aux consignes, je veille au respect des délais, des procédures de sécurité et à la qualité des commandes afin de garantir la satisfaction des clients et le bon fonctionnement de la chaîne logistique.</a:t>
            </a:r>
          </a:p>
          <a:p>
            <a:pPr algn="just">
              <a:lnSpc>
                <a:spcPts val="1487"/>
              </a:lnSpc>
            </a:pPr>
          </a:p>
          <a:p>
            <a:pPr algn="just">
              <a:lnSpc>
                <a:spcPts val="1487"/>
              </a:lnSpc>
            </a:pPr>
            <a:r>
              <a:rPr lang="en-US" sz="1239">
                <a:solidFill>
                  <a:srgbClr val="000000"/>
                </a:solidFill>
                <a:latin typeface="PT Sans"/>
                <a:ea typeface="PT Sans"/>
                <a:cs typeface="PT Sans"/>
                <a:sym typeface="PT Sans"/>
              </a:rPr>
              <a:t>Chauffeur-livreur sérieux et autonome, j’assure la livraison des marchandises dans le respect des délais, des consignes de sécurité et de la satisfaction client. Organisé et réactif, je sais gérer efficacement les tournées, entretenir une relation professionnelle avec les clients et garantir un service fiable et de qualité.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DAHBklWq3p0</dc:identifier>
  <dcterms:modified xsi:type="dcterms:W3CDTF">2011-08-01T06:04:30Z</dcterms:modified>
  <cp:revision>1</cp:revision>
  <dc:title>Copie de Copie de Copie de Curriculum Vitae CV Français Professionnel Simple Moderne Vert et Beige</dc:title>
</cp:coreProperties>
</file>